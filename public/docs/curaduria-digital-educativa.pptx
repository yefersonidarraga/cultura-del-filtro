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9" r:id="rId2"/>
    <p:sldId id="256" r:id="rId3"/>
    <p:sldId id="257" r:id="rId4"/>
    <p:sldId id="258" r:id="rId5"/>
    <p:sldId id="271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83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23706" y="1069731"/>
            <a:ext cx="11516097" cy="3388575"/>
          </a:xfrm>
        </p:spPr>
        <p:txBody>
          <a:bodyPr bIns="0" anchor="b">
            <a:normAutofit/>
          </a:bodyPr>
          <a:lstStyle>
            <a:lvl1pPr algn="l">
              <a:defRPr sz="8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23707" y="4708273"/>
            <a:ext cx="11516096" cy="13034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2400" b="0" cap="all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 sz="2400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001" y="439077"/>
            <a:ext cx="6631887" cy="41226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16886" y="1065298"/>
            <a:ext cx="1081359" cy="671437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3223707" y="4704723"/>
            <a:ext cx="1151609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258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938528" y="2462784"/>
            <a:ext cx="1281002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037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8986" y="2341507"/>
            <a:ext cx="11524205" cy="2517267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8986" y="5074927"/>
            <a:ext cx="11507261" cy="1350572"/>
          </a:xfrm>
        </p:spPr>
        <p:txBody>
          <a:bodyPr tIns="9144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938986" y="5073313"/>
            <a:ext cx="1150726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9736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2290" y="1073186"/>
            <a:ext cx="12807513" cy="141240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9775" y="2681171"/>
            <a:ext cx="6193536" cy="459812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51695" y="2689791"/>
            <a:ext cx="6193536" cy="458869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938528" y="2462784"/>
            <a:ext cx="1281002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930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9589" y="1072218"/>
            <a:ext cx="12810215" cy="14084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9588" y="2692733"/>
            <a:ext cx="6193536" cy="10692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933" b="0" cap="all" baseline="0">
                <a:solidFill>
                  <a:schemeClr val="accent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9588" y="3765693"/>
            <a:ext cx="6193536" cy="352594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549816" y="2697338"/>
            <a:ext cx="6193536" cy="1069649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933" b="0" cap="all" baseline="0">
                <a:solidFill>
                  <a:schemeClr val="accent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549816" y="3761989"/>
            <a:ext cx="6193536" cy="35164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938528" y="2462784"/>
            <a:ext cx="1281002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03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938528" y="2462784"/>
            <a:ext cx="1281002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868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077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6229" y="1065298"/>
            <a:ext cx="4364132" cy="2996156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24952" y="1065299"/>
            <a:ext cx="8016627" cy="6211768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6229" y="4273989"/>
            <a:ext cx="4366684" cy="2997575"/>
          </a:xfrm>
        </p:spPr>
        <p:txBody>
          <a:bodyPr/>
          <a:lstStyle>
            <a:lvl1pPr marL="0" indent="0" algn="l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931040" y="4273988"/>
            <a:ext cx="435932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2904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9969850" y="642894"/>
            <a:ext cx="5432711" cy="6865468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4942" y="1506017"/>
            <a:ext cx="7376437" cy="2440779"/>
          </a:xfrm>
        </p:spPr>
        <p:txBody>
          <a:bodyPr anchor="b">
            <a:normAutofit/>
          </a:bodyPr>
          <a:lstStyle>
            <a:lvl1pPr>
              <a:defRPr sz="426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32520" y="1496723"/>
            <a:ext cx="3721561" cy="5155103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33772" y="4194656"/>
            <a:ext cx="7365872" cy="2671656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929844" y="7293142"/>
            <a:ext cx="7369801" cy="426831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929843" y="424854"/>
            <a:ext cx="7388005" cy="427908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929844" y="4191473"/>
            <a:ext cx="736980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7581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938528" y="2462784"/>
            <a:ext cx="1281002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9262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585481" y="1065298"/>
            <a:ext cx="2154323" cy="62131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26229" y="1065298"/>
            <a:ext cx="10438440" cy="621318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585481" y="1065298"/>
            <a:ext cx="0" cy="6213185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157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692635"/>
            <a:ext cx="16256000" cy="5474588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8168640"/>
            <a:ext cx="16256000" cy="9906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35439" y="1072693"/>
            <a:ext cx="12804367" cy="13989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5439" y="2687644"/>
            <a:ext cx="12804367" cy="46008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72185" y="440494"/>
            <a:ext cx="4667620" cy="4122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5439" y="439077"/>
            <a:ext cx="7918448" cy="4122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0081" y="1065298"/>
            <a:ext cx="1081359" cy="671437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3733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8171217"/>
            <a:ext cx="16256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1935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4267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120000"/>
        </a:lnSpc>
        <a:spcBef>
          <a:spcPts val="1333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667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120000"/>
        </a:lnSpc>
        <a:spcBef>
          <a:spcPts val="667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120000"/>
        </a:lnSpc>
        <a:spcBef>
          <a:spcPts val="667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133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120000"/>
        </a:lnSpc>
        <a:spcBef>
          <a:spcPts val="667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67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120000"/>
        </a:lnSpc>
        <a:spcBef>
          <a:spcPts val="667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120000"/>
        </a:lnSpc>
        <a:spcBef>
          <a:spcPts val="667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120000"/>
        </a:lnSpc>
        <a:spcBef>
          <a:spcPts val="667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120000"/>
        </a:lnSpc>
        <a:spcBef>
          <a:spcPts val="667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120000"/>
        </a:lnSpc>
        <a:spcBef>
          <a:spcPts val="667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108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" y="0"/>
            <a:ext cx="11963400" cy="6673334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8A82562F-EEBD-4A2F-A8B1-1AA3A286FDE2}"/>
              </a:ext>
            </a:extLst>
          </p:cNvPr>
          <p:cNvSpPr/>
          <p:nvPr/>
        </p:nvSpPr>
        <p:spPr>
          <a:xfrm>
            <a:off x="812800" y="6673334"/>
            <a:ext cx="9429750" cy="14038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2400" b="1" dirty="0"/>
              <a:t>Realizada por:</a:t>
            </a:r>
          </a:p>
          <a:p>
            <a:pPr algn="ctr"/>
            <a:r>
              <a:rPr lang="es-MX" sz="2400" b="1" dirty="0"/>
              <a:t>Zohé Velásquez González</a:t>
            </a:r>
          </a:p>
          <a:p>
            <a:pPr algn="ctr"/>
            <a:r>
              <a:rPr lang="es-MX" sz="2400" b="1" dirty="0"/>
              <a:t>Jairo Alberto Rendón González</a:t>
            </a:r>
          </a:p>
          <a:p>
            <a:pPr algn="ctr"/>
            <a:r>
              <a:rPr lang="es-MX" sz="2400" b="1" dirty="0"/>
              <a:t>Pablo Emilio Naranjo Zuluaga</a:t>
            </a:r>
            <a:endParaRPr lang="es-CO" sz="2400" b="1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88058F7-0195-4055-BB02-18B2D95069DB}"/>
              </a:ext>
            </a:extLst>
          </p:cNvPr>
          <p:cNvSpPr/>
          <p:nvPr/>
        </p:nvSpPr>
        <p:spPr>
          <a:xfrm>
            <a:off x="11099800" y="7239000"/>
            <a:ext cx="22860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Con asistencia de NotebookLM</a:t>
            </a:r>
            <a:endParaRPr lang="es-CO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6256000" cy="90678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6CD58A4A-3CE1-4042-8976-2D3FE12B7F91}"/>
              </a:ext>
            </a:extLst>
          </p:cNvPr>
          <p:cNvSpPr/>
          <p:nvPr/>
        </p:nvSpPr>
        <p:spPr>
          <a:xfrm>
            <a:off x="13157200" y="6705600"/>
            <a:ext cx="2667000" cy="1752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600" b="1" dirty="0"/>
              <a:t>La falla de los buscadores</a:t>
            </a:r>
            <a:r>
              <a:rPr lang="es-MX" sz="1600" dirty="0"/>
              <a:t>:</a:t>
            </a:r>
          </a:p>
          <a:p>
            <a:pPr algn="ctr"/>
            <a:r>
              <a:rPr lang="es-MX" sz="1600" dirty="0"/>
              <a:t>Los algoritmos devuelven miles de resultados; carecen de discernimiento humano para el contexto educativo.</a:t>
            </a:r>
            <a:endParaRPr lang="es-CO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424D3A9-BA6D-481E-8472-D952350E7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89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accent1">
                <a:lumMod val="20000"/>
                <a:lumOff val="80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6256000" cy="90678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0F345C0-3CA1-4390-A440-AE94B6F67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0" y="8229600"/>
            <a:ext cx="3078479" cy="685800"/>
          </a:xfrm>
          <a:prstGeom prst="rect">
            <a:avLst/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EC68CD5C-BA91-44D6-AD34-093DBAF7DF6A}"/>
              </a:ext>
            </a:extLst>
          </p:cNvPr>
          <p:cNvSpPr/>
          <p:nvPr/>
        </p:nvSpPr>
        <p:spPr>
          <a:xfrm>
            <a:off x="12442892" y="210657"/>
            <a:ext cx="2118361" cy="8382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2000" b="1" dirty="0"/>
              <a:t>Pasos 1 y 2</a:t>
            </a:r>
            <a:endParaRPr lang="es-CO" sz="2000" b="1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83C0E1E-8CEA-4040-81B8-D064AD25B0A0}"/>
              </a:ext>
            </a:extLst>
          </p:cNvPr>
          <p:cNvSpPr/>
          <p:nvPr/>
        </p:nvSpPr>
        <p:spPr>
          <a:xfrm>
            <a:off x="10116819" y="7353300"/>
            <a:ext cx="2118361" cy="83820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2000" b="1" dirty="0"/>
              <a:t>Pasos 3 y 4</a:t>
            </a:r>
            <a:endParaRPr lang="es-CO" sz="2000" b="1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9FB12AE5-8677-4DBD-8866-115DA2C6C18F}"/>
              </a:ext>
            </a:extLst>
          </p:cNvPr>
          <p:cNvSpPr/>
          <p:nvPr/>
        </p:nvSpPr>
        <p:spPr>
          <a:xfrm>
            <a:off x="2178684" y="152400"/>
            <a:ext cx="2118361" cy="83820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2000" b="1" dirty="0"/>
              <a:t>Pasos 5, 6 y 7</a:t>
            </a:r>
            <a:endParaRPr lang="es-CO" sz="2000" b="1" dirty="0"/>
          </a:p>
        </p:txBody>
      </p:sp>
      <p:sp>
        <p:nvSpPr>
          <p:cNvPr id="10" name="Flecha: curvada hacia la izquierda 9">
            <a:extLst>
              <a:ext uri="{FF2B5EF4-FFF2-40B4-BE49-F238E27FC236}">
                <a16:creationId xmlns:a16="http://schemas.microsoft.com/office/drawing/2014/main" id="{CDD6C702-1AF8-498A-9B61-E1C3FE8F56C7}"/>
              </a:ext>
            </a:extLst>
          </p:cNvPr>
          <p:cNvSpPr/>
          <p:nvPr/>
        </p:nvSpPr>
        <p:spPr>
          <a:xfrm rot="1009639">
            <a:off x="13463359" y="1102855"/>
            <a:ext cx="2633869" cy="7439719"/>
          </a:xfrm>
          <a:prstGeom prst="curvedLeftArrow">
            <a:avLst>
              <a:gd name="adj1" fmla="val 25000"/>
              <a:gd name="adj2" fmla="val 50000"/>
              <a:gd name="adj3" fmla="val 29846"/>
            </a:avLst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11" name="Flecha: curvada hacia la izquierda 10">
            <a:extLst>
              <a:ext uri="{FF2B5EF4-FFF2-40B4-BE49-F238E27FC236}">
                <a16:creationId xmlns:a16="http://schemas.microsoft.com/office/drawing/2014/main" id="{45B5C787-4916-41EA-A690-E02280ED96D9}"/>
              </a:ext>
            </a:extLst>
          </p:cNvPr>
          <p:cNvSpPr/>
          <p:nvPr/>
        </p:nvSpPr>
        <p:spPr>
          <a:xfrm rot="9318945">
            <a:off x="303373" y="1366938"/>
            <a:ext cx="2796751" cy="7880461"/>
          </a:xfrm>
          <a:prstGeom prst="curvedLeftArrow">
            <a:avLst>
              <a:gd name="adj1" fmla="val 25000"/>
              <a:gd name="adj2" fmla="val 50000"/>
              <a:gd name="adj3" fmla="val 29846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A2271918-D430-4C55-A03B-25E7B488DDDA}"/>
              </a:ext>
            </a:extLst>
          </p:cNvPr>
          <p:cNvSpPr/>
          <p:nvPr/>
        </p:nvSpPr>
        <p:spPr>
          <a:xfrm>
            <a:off x="5156200" y="4876800"/>
            <a:ext cx="2362200" cy="3124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2400" dirty="0"/>
              <a:t>Mantener un diálogo crítico e interactivo con el LLM en lugar de aceptar el primer comando</a:t>
            </a:r>
            <a:endParaRPr lang="es-CO" sz="2400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EC979B2-EC1E-4EEA-B21A-2551404385D8}"/>
              </a:ext>
            </a:extLst>
          </p:cNvPr>
          <p:cNvCxnSpPr>
            <a:cxnSpLocks/>
          </p:cNvCxnSpPr>
          <p:nvPr/>
        </p:nvCxnSpPr>
        <p:spPr>
          <a:xfrm>
            <a:off x="1574800" y="4876800"/>
            <a:ext cx="2362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3739CDAD-9F36-4007-8D20-767B19E26335}"/>
              </a:ext>
            </a:extLst>
          </p:cNvPr>
          <p:cNvCxnSpPr>
            <a:cxnSpLocks/>
          </p:cNvCxnSpPr>
          <p:nvPr/>
        </p:nvCxnSpPr>
        <p:spPr>
          <a:xfrm>
            <a:off x="8737600" y="4876800"/>
            <a:ext cx="2362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94A8402-7BE7-4010-99A1-153590AE4D6B}"/>
              </a:ext>
            </a:extLst>
          </p:cNvPr>
          <p:cNvCxnSpPr>
            <a:cxnSpLocks/>
          </p:cNvCxnSpPr>
          <p:nvPr/>
        </p:nvCxnSpPr>
        <p:spPr>
          <a:xfrm>
            <a:off x="12242800" y="4876800"/>
            <a:ext cx="2362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F1ABC02-D09F-4633-B899-C322EA7C39CE}"/>
              </a:ext>
            </a:extLst>
          </p:cNvPr>
          <p:cNvSpPr/>
          <p:nvPr/>
        </p:nvSpPr>
        <p:spPr>
          <a:xfrm>
            <a:off x="3251200" y="1143000"/>
            <a:ext cx="10134600" cy="5715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6000" b="1" dirty="0"/>
              <a:t>¡Muchas gracias!</a:t>
            </a:r>
            <a:endParaRPr lang="es-CO" sz="6000" b="1" dirty="0"/>
          </a:p>
        </p:txBody>
      </p:sp>
    </p:spTree>
    <p:extLst>
      <p:ext uri="{BB962C8B-B14F-4D97-AF65-F5344CB8AC3E}">
        <p14:creationId xmlns:p14="http://schemas.microsoft.com/office/powerpoint/2010/main" val="1481281802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148</TotalTime>
  <Words>74</Words>
  <Application>Microsoft Office PowerPoint</Application>
  <PresentationFormat>Personalizado</PresentationFormat>
  <Paragraphs>12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Gill Sans MT</vt:lpstr>
      <vt:lpstr>Galería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USUARIO</cp:lastModifiedBy>
  <cp:revision>9</cp:revision>
  <dcterms:created xsi:type="dcterms:W3CDTF">2006-08-16T00:00:00Z</dcterms:created>
  <dcterms:modified xsi:type="dcterms:W3CDTF">2026-10-21T03:02:18Z</dcterms:modified>
</cp:coreProperties>
</file>